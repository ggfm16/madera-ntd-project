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2" r:id="rId1"/>
  </p:sldMasterIdLst>
  <p:sldIdLst>
    <p:sldId id="256" r:id="rId2"/>
    <p:sldId id="257" r:id="rId3"/>
    <p:sldId id="268" r:id="rId4"/>
    <p:sldId id="262" r:id="rId5"/>
    <p:sldId id="265" r:id="rId6"/>
    <p:sldId id="266" r:id="rId7"/>
    <p:sldId id="267" r:id="rId8"/>
    <p:sldId id="263" r:id="rId9"/>
    <p:sldId id="259" r:id="rId10"/>
    <p:sldId id="260" r:id="rId11"/>
    <p:sldId id="261" r:id="rId12"/>
    <p:sldId id="269" r:id="rId13"/>
    <p:sldId id="270"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30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1410700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6B0C42-5065-4BF6-B693-914B09332802}"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1461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6B0C42-5065-4BF6-B693-914B09332802}"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4192727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6B0C42-5065-4BF6-B693-914B09332802}"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1107633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6B0C42-5065-4BF6-B693-914B09332802}"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857351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766B0C42-5065-4BF6-B693-914B09332802}" type="datetimeFigureOut">
              <a:rPr lang="en-US" smtClean="0"/>
              <a:t>6/21/2026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2507033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6B0C42-5065-4BF6-B693-914B09332802}" type="datetimeFigureOut">
              <a:rPr lang="en-US" smtClean="0"/>
              <a:t>6/21/2026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6A14455-E363-47DA-9A22-0041C0B30FF9}" type="slidenum">
              <a:rPr lang="en-US" smtClean="0"/>
              <a:t>‹#›</a:t>
            </a:fld>
            <a:endParaRPr lang="en-US"/>
          </a:p>
        </p:txBody>
      </p:sp>
    </p:spTree>
    <p:extLst>
      <p:ext uri="{BB962C8B-B14F-4D97-AF65-F5344CB8AC3E}">
        <p14:creationId xmlns:p14="http://schemas.microsoft.com/office/powerpoint/2010/main" val="31447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6B0C42-5065-4BF6-B693-914B09332802}"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4007098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2226427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6B0C42-5065-4BF6-B693-914B09332802}"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14455-E363-47DA-9A22-0041C0B30FF9}" type="slidenum">
              <a:rPr lang="en-US" smtClean="0"/>
              <a:t>‹#›</a:t>
            </a:fld>
            <a:endParaRPr lang="en-US"/>
          </a:p>
        </p:txBody>
      </p:sp>
    </p:spTree>
    <p:extLst>
      <p:ext uri="{BB962C8B-B14F-4D97-AF65-F5344CB8AC3E}">
        <p14:creationId xmlns:p14="http://schemas.microsoft.com/office/powerpoint/2010/main" val="419256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66B0C42-5065-4BF6-B693-914B09332802}" type="datetimeFigureOut">
              <a:rPr lang="en-US" smtClean="0"/>
              <a:t>6/21/2026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6A14455-E363-47DA-9A22-0041C0B30FF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430829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maderacounty.com/government/geographic-information-system-gis" TargetMode="External"/><Relationship Id="rId2" Type="http://schemas.openxmlformats.org/officeDocument/2006/relationships/hyperlink" Target="https://mobilitydatabase.org/feeds/gtfs/mdb-91" TargetMode="External"/><Relationship Id="rId1" Type="http://schemas.openxmlformats.org/officeDocument/2006/relationships/slideLayout" Target="../slideLayouts/slideLayout2.xml"/><Relationship Id="rId6" Type="http://schemas.openxmlformats.org/officeDocument/2006/relationships/hyperlink" Target="https://www.transit.dot.gov/ntd/ntd-data?field_product_type_target_id=1026&amp;year=all&amp;combine=" TargetMode="External"/><Relationship Id="rId5" Type="http://schemas.openxmlformats.org/officeDocument/2006/relationships/hyperlink" Target="https://www.transit.dot.gov/ntd/national-transit-database-ntd-glossary#V" TargetMode="External"/><Relationship Id="rId4" Type="http://schemas.openxmlformats.org/officeDocument/2006/relationships/hyperlink" Target="https://www.madera.gov/media/4oml3tfu/01-madera-metro-system-map-and-schedule-rev-240220-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3334C-4CB4-2E49-BDA7-724D37F838B2}"/>
              </a:ext>
            </a:extLst>
          </p:cNvPr>
          <p:cNvSpPr>
            <a:spLocks noGrp="1"/>
          </p:cNvSpPr>
          <p:nvPr>
            <p:ph type="ctrTitle"/>
          </p:nvPr>
        </p:nvSpPr>
        <p:spPr/>
        <p:style>
          <a:lnRef idx="1">
            <a:schemeClr val="accent4"/>
          </a:lnRef>
          <a:fillRef idx="3">
            <a:schemeClr val="accent4"/>
          </a:fillRef>
          <a:effectRef idx="2">
            <a:schemeClr val="accent4"/>
          </a:effectRef>
          <a:fontRef idx="minor">
            <a:schemeClr val="lt1"/>
          </a:fontRef>
        </p:style>
        <p:txBody>
          <a:bodyPr/>
          <a:lstStyle/>
          <a:p>
            <a:pPr algn="ctr"/>
            <a:r>
              <a:rPr lang="en-US" b="1" dirty="0"/>
              <a:t>Madera Transit Analysis</a:t>
            </a:r>
          </a:p>
        </p:txBody>
      </p:sp>
      <p:sp>
        <p:nvSpPr>
          <p:cNvPr id="3" name="Subtitle 2">
            <a:extLst>
              <a:ext uri="{FF2B5EF4-FFF2-40B4-BE49-F238E27FC236}">
                <a16:creationId xmlns:a16="http://schemas.microsoft.com/office/drawing/2014/main" id="{775D9BA7-F4E3-F293-FDF7-38AEB61BD7D7}"/>
              </a:ext>
            </a:extLst>
          </p:cNvPr>
          <p:cNvSpPr>
            <a:spLocks noGrp="1"/>
          </p:cNvSpPr>
          <p:nvPr>
            <p:ph type="subTitle" idx="1"/>
          </p:nvPr>
        </p:nvSpPr>
        <p:spPr/>
        <p:txBody>
          <a:bodyPr>
            <a:normAutofit/>
          </a:bodyPr>
          <a:lstStyle/>
          <a:p>
            <a:pPr algn="ctr"/>
            <a:r>
              <a:rPr lang="en-US" dirty="0"/>
              <a:t>Ralph Cuevas</a:t>
            </a:r>
          </a:p>
          <a:p>
            <a:pPr algn="ctr"/>
            <a:endParaRPr lang="en-US" dirty="0"/>
          </a:p>
        </p:txBody>
      </p:sp>
    </p:spTree>
    <p:extLst>
      <p:ext uri="{BB962C8B-B14F-4D97-AF65-F5344CB8AC3E}">
        <p14:creationId xmlns:p14="http://schemas.microsoft.com/office/powerpoint/2010/main" val="20025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116D1B-84F7-D1D4-5117-07197E3F17E8}"/>
              </a:ext>
            </a:extLst>
          </p:cNvPr>
          <p:cNvSpPr>
            <a:spLocks noGrp="1"/>
          </p:cNvSpPr>
          <p:nvPr>
            <p:ph type="title"/>
          </p:nvPr>
        </p:nvSpPr>
        <p:spPr/>
        <p:txBody>
          <a:bodyPr/>
          <a:lstStyle/>
          <a:p>
            <a:pPr algn="ctr"/>
            <a:r>
              <a:rPr lang="en-US" dirty="0"/>
              <a:t>Introduction</a:t>
            </a:r>
          </a:p>
        </p:txBody>
      </p:sp>
      <p:sp>
        <p:nvSpPr>
          <p:cNvPr id="7" name="Content Placeholder 6">
            <a:extLst>
              <a:ext uri="{FF2B5EF4-FFF2-40B4-BE49-F238E27FC236}">
                <a16:creationId xmlns:a16="http://schemas.microsoft.com/office/drawing/2014/main" id="{EE699CC6-200D-4DE2-CE16-4C74BBFA7101}"/>
              </a:ext>
            </a:extLst>
          </p:cNvPr>
          <p:cNvSpPr>
            <a:spLocks noGrp="1"/>
          </p:cNvSpPr>
          <p:nvPr>
            <p:ph idx="1"/>
          </p:nvPr>
        </p:nvSpPr>
        <p:spPr/>
        <p:txBody>
          <a:bodyPr>
            <a:normAutofit lnSpcReduction="10000"/>
          </a:bodyPr>
          <a:lstStyle/>
          <a:p>
            <a:pPr>
              <a:lnSpc>
                <a:spcPct val="150000"/>
              </a:lnSpc>
            </a:pPr>
            <a:r>
              <a:rPr lang="en-US" dirty="0"/>
              <a:t>I began this project with the desire to understand more about the City of Madera, California’s transit system after living in Pomona, California for a few years. </a:t>
            </a:r>
          </a:p>
          <a:p>
            <a:pPr>
              <a:lnSpc>
                <a:spcPct val="150000"/>
              </a:lnSpc>
            </a:pPr>
            <a:r>
              <a:rPr lang="en-US" dirty="0"/>
              <a:t>I wanted to understand the context of how the system has operated over a significant span of time. After gathering NTD (National Transit Database) files from 2014-2024, I found that the trends within the data paint a unique picture of the system’s history. Spatial Geographic visualizations via QGIS also provides context for how the Fixed Route system serves the city.</a:t>
            </a:r>
          </a:p>
          <a:p>
            <a:pPr>
              <a:lnSpc>
                <a:spcPct val="150000"/>
              </a:lnSpc>
            </a:pPr>
            <a:r>
              <a:rPr lang="en-US" dirty="0"/>
              <a:t>Acronyms will be explained as they appear on each slide along with a glossary found at the end of the deck.</a:t>
            </a:r>
          </a:p>
          <a:p>
            <a:endParaRPr lang="en-US" dirty="0"/>
          </a:p>
        </p:txBody>
      </p:sp>
    </p:spTree>
    <p:extLst>
      <p:ext uri="{BB962C8B-B14F-4D97-AF65-F5344CB8AC3E}">
        <p14:creationId xmlns:p14="http://schemas.microsoft.com/office/powerpoint/2010/main" val="892191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21FE9C-4AC6-C8D9-BD66-80825E4AAE4E}"/>
              </a:ext>
            </a:extLst>
          </p:cNvPr>
          <p:cNvSpPr>
            <a:spLocks noGrp="1"/>
          </p:cNvSpPr>
          <p:nvPr>
            <p:ph type="title"/>
          </p:nvPr>
        </p:nvSpPr>
        <p:spPr/>
        <p:txBody>
          <a:bodyPr/>
          <a:lstStyle/>
          <a:p>
            <a:r>
              <a:rPr lang="en-US" dirty="0"/>
              <a:t>QGIS Route Overview</a:t>
            </a:r>
          </a:p>
        </p:txBody>
      </p:sp>
      <p:sp>
        <p:nvSpPr>
          <p:cNvPr id="5" name="Text Placeholder 4">
            <a:extLst>
              <a:ext uri="{FF2B5EF4-FFF2-40B4-BE49-F238E27FC236}">
                <a16:creationId xmlns:a16="http://schemas.microsoft.com/office/drawing/2014/main" id="{6BA8A99E-A4DC-A860-62D1-C87311870755}"/>
              </a:ext>
            </a:extLst>
          </p:cNvPr>
          <p:cNvSpPr>
            <a:spLocks noGrp="1"/>
          </p:cNvSpPr>
          <p:nvPr>
            <p:ph type="body" idx="1"/>
          </p:nvPr>
        </p:nvSpPr>
        <p:spPr/>
        <p:txBody>
          <a:bodyPr>
            <a:normAutofit/>
          </a:bodyPr>
          <a:lstStyle/>
          <a:p>
            <a:r>
              <a:rPr lang="en-US" cap="none" dirty="0">
                <a:latin typeface="+mn-lt"/>
              </a:rPr>
              <a:t>The following section focuses on visualizations designed to provide context on Madera's population and identifying potential expansion/improvement opportunities</a:t>
            </a:r>
          </a:p>
        </p:txBody>
      </p:sp>
    </p:spTree>
    <p:extLst>
      <p:ext uri="{BB962C8B-B14F-4D97-AF65-F5344CB8AC3E}">
        <p14:creationId xmlns:p14="http://schemas.microsoft.com/office/powerpoint/2010/main" val="406512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95568-8C51-F776-DA61-5F1D8C198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573A2-2D95-7CCD-08B6-7354983670CF}"/>
              </a:ext>
            </a:extLst>
          </p:cNvPr>
          <p:cNvSpPr>
            <a:spLocks noGrp="1"/>
          </p:cNvSpPr>
          <p:nvPr>
            <p:ph type="title" idx="4294967295"/>
          </p:nvPr>
        </p:nvSpPr>
        <p:spPr>
          <a:xfrm>
            <a:off x="1123361" y="222088"/>
            <a:ext cx="10058400" cy="674687"/>
          </a:xfrm>
        </p:spPr>
        <p:txBody>
          <a:bodyPr>
            <a:normAutofit fontScale="90000"/>
          </a:bodyPr>
          <a:lstStyle/>
          <a:p>
            <a:pPr algn="ctr"/>
            <a:r>
              <a:rPr lang="en-US" dirty="0"/>
              <a:t>Fixed Route Overview</a:t>
            </a:r>
          </a:p>
        </p:txBody>
      </p:sp>
      <p:sp>
        <p:nvSpPr>
          <p:cNvPr id="20" name="TextBox 19">
            <a:extLst>
              <a:ext uri="{FF2B5EF4-FFF2-40B4-BE49-F238E27FC236}">
                <a16:creationId xmlns:a16="http://schemas.microsoft.com/office/drawing/2014/main" id="{76A89E66-6A8C-29FF-5556-7ADDD178C054}"/>
              </a:ext>
            </a:extLst>
          </p:cNvPr>
          <p:cNvSpPr txBox="1"/>
          <p:nvPr/>
        </p:nvSpPr>
        <p:spPr>
          <a:xfrm>
            <a:off x="414780" y="3742441"/>
            <a:ext cx="11444140" cy="892552"/>
          </a:xfrm>
          <a:prstGeom prst="rect">
            <a:avLst/>
          </a:prstGeom>
          <a:noFill/>
        </p:spPr>
        <p:txBody>
          <a:bodyPr wrap="square" rtlCol="0">
            <a:spAutoFit/>
          </a:bodyPr>
          <a:lstStyle/>
          <a:p>
            <a:endParaRPr lang="en-US" sz="1600" dirty="0"/>
          </a:p>
          <a:p>
            <a:endParaRPr lang="en-US" dirty="0"/>
          </a:p>
          <a:p>
            <a:endParaRPr lang="en-US" dirty="0"/>
          </a:p>
        </p:txBody>
      </p:sp>
      <p:pic>
        <p:nvPicPr>
          <p:cNvPr id="6" name="Picture 5">
            <a:extLst>
              <a:ext uri="{FF2B5EF4-FFF2-40B4-BE49-F238E27FC236}">
                <a16:creationId xmlns:a16="http://schemas.microsoft.com/office/drawing/2014/main" id="{532A4E42-0DB8-479C-2516-AA127BF9FC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80" y="1032932"/>
            <a:ext cx="4332457" cy="4930315"/>
          </a:xfrm>
          <a:prstGeom prst="rect">
            <a:avLst/>
          </a:prstGeom>
        </p:spPr>
      </p:pic>
      <p:sp>
        <p:nvSpPr>
          <p:cNvPr id="7" name="TextBox 6">
            <a:extLst>
              <a:ext uri="{FF2B5EF4-FFF2-40B4-BE49-F238E27FC236}">
                <a16:creationId xmlns:a16="http://schemas.microsoft.com/office/drawing/2014/main" id="{91BBDE4E-9E68-45FD-78E7-5462E26838EA}"/>
              </a:ext>
            </a:extLst>
          </p:cNvPr>
          <p:cNvSpPr txBox="1"/>
          <p:nvPr/>
        </p:nvSpPr>
        <p:spPr>
          <a:xfrm>
            <a:off x="5599087" y="1618782"/>
            <a:ext cx="6341533" cy="5078313"/>
          </a:xfrm>
          <a:prstGeom prst="rect">
            <a:avLst/>
          </a:prstGeom>
          <a:noFill/>
        </p:spPr>
        <p:txBody>
          <a:bodyPr wrap="square" rtlCol="0">
            <a:spAutoFit/>
          </a:bodyPr>
          <a:lstStyle/>
          <a:p>
            <a:r>
              <a:rPr lang="en-US" dirty="0"/>
              <a:t>The City of Madera runs a fixed route system comprised of 4 routes that run hourly or every half hour depending on the route </a:t>
            </a:r>
          </a:p>
          <a:p>
            <a:endParaRPr lang="en-US" dirty="0"/>
          </a:p>
          <a:p>
            <a:r>
              <a:rPr lang="en-US" dirty="0"/>
              <a:t>The Purple line is in service from 7am-5:30pm, the Orange line from 7am-5am, the Green line from 7:15am-5:15, and the Blue line from 9am-4pm</a:t>
            </a:r>
          </a:p>
          <a:p>
            <a:endParaRPr lang="en-US" dirty="0"/>
          </a:p>
          <a:p>
            <a:r>
              <a:rPr lang="en-US" dirty="0"/>
              <a:t>Of the four routes, only the Purple and Orange lines run on weekends on a limited schedule</a:t>
            </a:r>
          </a:p>
          <a:p>
            <a:endParaRPr lang="en-US" dirty="0"/>
          </a:p>
          <a:p>
            <a:r>
              <a:rPr lang="en-US" dirty="0"/>
              <a:t>The routes connect to major commercial areas such as shopping centers as well as the Madera Amtrak station and hospital</a:t>
            </a:r>
          </a:p>
          <a:p>
            <a:endParaRPr lang="en-US" dirty="0"/>
          </a:p>
          <a:p>
            <a:r>
              <a:rPr lang="en-US" dirty="0"/>
              <a:t>While usable, low frequency and limited schedules limit the FR systems use in day-to-day activities or as a work commute option</a:t>
            </a:r>
          </a:p>
          <a:p>
            <a:endParaRPr lang="en-US" dirty="0"/>
          </a:p>
          <a:p>
            <a:endParaRPr lang="en-US" dirty="0"/>
          </a:p>
          <a:p>
            <a:endParaRPr lang="en-US" dirty="0"/>
          </a:p>
        </p:txBody>
      </p:sp>
    </p:spTree>
    <p:extLst>
      <p:ext uri="{BB962C8B-B14F-4D97-AF65-F5344CB8AC3E}">
        <p14:creationId xmlns:p14="http://schemas.microsoft.com/office/powerpoint/2010/main" val="3027712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5C0DC-EDE9-BC66-4F1B-1BDF73A02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91685-1DD9-F96B-6DAB-6A32472E3E6B}"/>
              </a:ext>
            </a:extLst>
          </p:cNvPr>
          <p:cNvSpPr>
            <a:spLocks noGrp="1"/>
          </p:cNvSpPr>
          <p:nvPr>
            <p:ph type="title" idx="4294967295"/>
          </p:nvPr>
        </p:nvSpPr>
        <p:spPr>
          <a:xfrm>
            <a:off x="1123361" y="222088"/>
            <a:ext cx="10058400" cy="674687"/>
          </a:xfrm>
        </p:spPr>
        <p:txBody>
          <a:bodyPr>
            <a:normAutofit fontScale="90000"/>
          </a:bodyPr>
          <a:lstStyle/>
          <a:p>
            <a:pPr algn="ctr"/>
            <a:r>
              <a:rPr lang="en-US" dirty="0"/>
              <a:t>Population Overlay</a:t>
            </a:r>
          </a:p>
        </p:txBody>
      </p:sp>
      <p:sp>
        <p:nvSpPr>
          <p:cNvPr id="20" name="TextBox 19">
            <a:extLst>
              <a:ext uri="{FF2B5EF4-FFF2-40B4-BE49-F238E27FC236}">
                <a16:creationId xmlns:a16="http://schemas.microsoft.com/office/drawing/2014/main" id="{00230123-0C6F-E094-9C2A-962A1FF94D1E}"/>
              </a:ext>
            </a:extLst>
          </p:cNvPr>
          <p:cNvSpPr txBox="1"/>
          <p:nvPr/>
        </p:nvSpPr>
        <p:spPr>
          <a:xfrm>
            <a:off x="414780" y="3742441"/>
            <a:ext cx="11444140" cy="892552"/>
          </a:xfrm>
          <a:prstGeom prst="rect">
            <a:avLst/>
          </a:prstGeom>
          <a:noFill/>
        </p:spPr>
        <p:txBody>
          <a:bodyPr wrap="square" rtlCol="0">
            <a:spAutoFit/>
          </a:bodyPr>
          <a:lstStyle/>
          <a:p>
            <a:endParaRPr lang="en-US" sz="1600" dirty="0"/>
          </a:p>
          <a:p>
            <a:endParaRPr lang="en-US" dirty="0"/>
          </a:p>
          <a:p>
            <a:endParaRPr lang="en-US" dirty="0"/>
          </a:p>
        </p:txBody>
      </p:sp>
      <p:pic>
        <p:nvPicPr>
          <p:cNvPr id="6" name="Picture 5">
            <a:extLst>
              <a:ext uri="{FF2B5EF4-FFF2-40B4-BE49-F238E27FC236}">
                <a16:creationId xmlns:a16="http://schemas.microsoft.com/office/drawing/2014/main" id="{A70EFB64-278B-2A53-2112-D038A6B5A43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7430" y="965200"/>
            <a:ext cx="5003437" cy="5168525"/>
          </a:xfrm>
          <a:prstGeom prst="rect">
            <a:avLst/>
          </a:prstGeom>
        </p:spPr>
      </p:pic>
      <p:sp>
        <p:nvSpPr>
          <p:cNvPr id="7" name="TextBox 6">
            <a:extLst>
              <a:ext uri="{FF2B5EF4-FFF2-40B4-BE49-F238E27FC236}">
                <a16:creationId xmlns:a16="http://schemas.microsoft.com/office/drawing/2014/main" id="{0AF846BA-700E-AA28-7CC0-E9FCB515034F}"/>
              </a:ext>
            </a:extLst>
          </p:cNvPr>
          <p:cNvSpPr txBox="1"/>
          <p:nvPr/>
        </p:nvSpPr>
        <p:spPr>
          <a:xfrm>
            <a:off x="5694737" y="664675"/>
            <a:ext cx="6341533" cy="5632311"/>
          </a:xfrm>
          <a:prstGeom prst="rect">
            <a:avLst/>
          </a:prstGeom>
          <a:noFill/>
        </p:spPr>
        <p:txBody>
          <a:bodyPr wrap="square" rtlCol="0">
            <a:spAutoFit/>
          </a:bodyPr>
          <a:lstStyle/>
          <a:p>
            <a:endParaRPr lang="en-US" dirty="0"/>
          </a:p>
          <a:p>
            <a:endParaRPr lang="en-US" dirty="0"/>
          </a:p>
          <a:p>
            <a:endParaRPr lang="en-US" dirty="0"/>
          </a:p>
          <a:p>
            <a:r>
              <a:rPr lang="en-US" dirty="0"/>
              <a:t>Using QGIS, I used publicly available census data to create a heatmap that visualizes the major population clusters in the city.</a:t>
            </a:r>
          </a:p>
          <a:p>
            <a:endParaRPr lang="en-US" dirty="0"/>
          </a:p>
          <a:p>
            <a:r>
              <a:rPr lang="en-US" dirty="0"/>
              <a:t>While not exceptionally precise this helps provide an at a glance view of where the transit system is situated relative to the population</a:t>
            </a:r>
          </a:p>
          <a:p>
            <a:endParaRPr lang="en-US" dirty="0"/>
          </a:p>
          <a:p>
            <a:r>
              <a:rPr lang="en-US" dirty="0"/>
              <a:t>The system has wide coverage and overlaps well with populous areas, signaling potential for multiple arterial corridors, especially downtown.</a:t>
            </a:r>
          </a:p>
          <a:p>
            <a:endParaRPr lang="en-US" dirty="0"/>
          </a:p>
          <a:p>
            <a:r>
              <a:rPr lang="en-US" dirty="0"/>
              <a:t>For applications and analysis that requires more precision, I prepared a visualization that shows data at a neighborhood scale on the next slide.</a:t>
            </a:r>
          </a:p>
          <a:p>
            <a:endParaRPr lang="en-US" dirty="0"/>
          </a:p>
          <a:p>
            <a:endParaRPr lang="en-US" dirty="0"/>
          </a:p>
          <a:p>
            <a:endParaRPr lang="en-US" dirty="0"/>
          </a:p>
        </p:txBody>
      </p:sp>
    </p:spTree>
    <p:extLst>
      <p:ext uri="{BB962C8B-B14F-4D97-AF65-F5344CB8AC3E}">
        <p14:creationId xmlns:p14="http://schemas.microsoft.com/office/powerpoint/2010/main" val="2825801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77F99-9047-2162-D9E3-DC09201A3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65B26-C7CD-2AE6-26D1-01ADC259FEFB}"/>
              </a:ext>
            </a:extLst>
          </p:cNvPr>
          <p:cNvSpPr>
            <a:spLocks noGrp="1"/>
          </p:cNvSpPr>
          <p:nvPr>
            <p:ph type="title" idx="4294967295"/>
          </p:nvPr>
        </p:nvSpPr>
        <p:spPr>
          <a:xfrm>
            <a:off x="1123361" y="222088"/>
            <a:ext cx="10058400" cy="674687"/>
          </a:xfrm>
        </p:spPr>
        <p:txBody>
          <a:bodyPr>
            <a:normAutofit fontScale="90000"/>
          </a:bodyPr>
          <a:lstStyle/>
          <a:p>
            <a:pPr algn="ctr"/>
            <a:r>
              <a:rPr lang="en-US" dirty="0"/>
              <a:t>Population Density Overlay</a:t>
            </a:r>
          </a:p>
        </p:txBody>
      </p:sp>
      <p:sp>
        <p:nvSpPr>
          <p:cNvPr id="20" name="TextBox 19">
            <a:extLst>
              <a:ext uri="{FF2B5EF4-FFF2-40B4-BE49-F238E27FC236}">
                <a16:creationId xmlns:a16="http://schemas.microsoft.com/office/drawing/2014/main" id="{A5C6E1BE-7EDE-C765-760E-1CB830FAD342}"/>
              </a:ext>
            </a:extLst>
          </p:cNvPr>
          <p:cNvSpPr txBox="1"/>
          <p:nvPr/>
        </p:nvSpPr>
        <p:spPr>
          <a:xfrm>
            <a:off x="414780" y="3742441"/>
            <a:ext cx="11444140" cy="892552"/>
          </a:xfrm>
          <a:prstGeom prst="rect">
            <a:avLst/>
          </a:prstGeom>
          <a:noFill/>
        </p:spPr>
        <p:txBody>
          <a:bodyPr wrap="square" rtlCol="0">
            <a:spAutoFit/>
          </a:bodyPr>
          <a:lstStyle/>
          <a:p>
            <a:endParaRPr lang="en-US" sz="1600" dirty="0"/>
          </a:p>
          <a:p>
            <a:endParaRPr lang="en-US" dirty="0"/>
          </a:p>
          <a:p>
            <a:endParaRPr lang="en-US" dirty="0"/>
          </a:p>
        </p:txBody>
      </p:sp>
      <p:pic>
        <p:nvPicPr>
          <p:cNvPr id="6" name="Picture 5">
            <a:extLst>
              <a:ext uri="{FF2B5EF4-FFF2-40B4-BE49-F238E27FC236}">
                <a16:creationId xmlns:a16="http://schemas.microsoft.com/office/drawing/2014/main" id="{CDDECBC8-3022-8813-0D88-52908B186A3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4011" y="810525"/>
            <a:ext cx="4981485" cy="5236950"/>
          </a:xfrm>
          <a:prstGeom prst="rect">
            <a:avLst/>
          </a:prstGeom>
        </p:spPr>
      </p:pic>
      <p:sp>
        <p:nvSpPr>
          <p:cNvPr id="7" name="TextBox 6">
            <a:extLst>
              <a:ext uri="{FF2B5EF4-FFF2-40B4-BE49-F238E27FC236}">
                <a16:creationId xmlns:a16="http://schemas.microsoft.com/office/drawing/2014/main" id="{3DA84190-F457-28A7-4A79-E3A95124C714}"/>
              </a:ext>
            </a:extLst>
          </p:cNvPr>
          <p:cNvSpPr txBox="1"/>
          <p:nvPr/>
        </p:nvSpPr>
        <p:spPr>
          <a:xfrm>
            <a:off x="5779578" y="896775"/>
            <a:ext cx="6341533" cy="4524315"/>
          </a:xfrm>
          <a:prstGeom prst="rect">
            <a:avLst/>
          </a:prstGeom>
          <a:noFill/>
        </p:spPr>
        <p:txBody>
          <a:bodyPr wrap="square" rtlCol="0">
            <a:spAutoFit/>
          </a:bodyPr>
          <a:lstStyle/>
          <a:p>
            <a:r>
              <a:rPr lang="en-US" dirty="0"/>
              <a:t>This visualization takes advantage of the city’s population block data to provide population density data with a very high level of precision</a:t>
            </a:r>
          </a:p>
          <a:p>
            <a:endParaRPr lang="en-US" dirty="0"/>
          </a:p>
          <a:p>
            <a:r>
              <a:rPr lang="en-US" dirty="0"/>
              <a:t>In this configuration, the visualization only shows blocks where the population density is above 3000 people per square mile. Anything less is left transparent, leading to a fragmented view of the city.</a:t>
            </a:r>
          </a:p>
          <a:p>
            <a:endParaRPr lang="en-US" dirty="0"/>
          </a:p>
          <a:p>
            <a:r>
              <a:rPr lang="en-US" dirty="0"/>
              <a:t>The dark red blocks have a density of at least 10,000 per square mile, a common tipping point where high frequency transit (15-minute intervals) is considered viable. </a:t>
            </a:r>
          </a:p>
          <a:p>
            <a:endParaRPr lang="en-US" dirty="0"/>
          </a:p>
          <a:p>
            <a:r>
              <a:rPr lang="en-US" dirty="0"/>
              <a:t>I also took advantage of QGIS to make it so that when the map is zoomed in to a block, it’s population density and total population is displayed</a:t>
            </a:r>
          </a:p>
        </p:txBody>
      </p:sp>
      <p:pic>
        <p:nvPicPr>
          <p:cNvPr id="8" name="Zoomed In">
            <a:extLst>
              <a:ext uri="{FF2B5EF4-FFF2-40B4-BE49-F238E27FC236}">
                <a16:creationId xmlns:a16="http://schemas.microsoft.com/office/drawing/2014/main" id="{352A801F-1E8E-29D7-7EE1-F10C3489EF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012" y="810525"/>
            <a:ext cx="5467376" cy="3572954"/>
          </a:xfrm>
          <a:prstGeom prst="rect">
            <a:avLst/>
          </a:prstGeom>
        </p:spPr>
      </p:pic>
      <p:sp>
        <p:nvSpPr>
          <p:cNvPr id="9" name="Trigger">
            <a:extLst>
              <a:ext uri="{FF2B5EF4-FFF2-40B4-BE49-F238E27FC236}">
                <a16:creationId xmlns:a16="http://schemas.microsoft.com/office/drawing/2014/main" id="{CC953057-ABB5-232C-ABCE-D1148E70A933}"/>
              </a:ext>
            </a:extLst>
          </p:cNvPr>
          <p:cNvSpPr txBox="1"/>
          <p:nvPr/>
        </p:nvSpPr>
        <p:spPr>
          <a:xfrm>
            <a:off x="5651388" y="5533534"/>
            <a:ext cx="3225912" cy="646331"/>
          </a:xfrm>
          <a:prstGeom prst="rect">
            <a:avLst/>
          </a:prstGeom>
          <a:noFill/>
        </p:spPr>
        <p:txBody>
          <a:bodyPr wrap="square" rtlCol="0">
            <a:spAutoFit/>
          </a:bodyPr>
          <a:lstStyle/>
          <a:p>
            <a:r>
              <a:rPr lang="en-US" dirty="0"/>
              <a:t>Click to toggle to and from zoomed in view</a:t>
            </a:r>
          </a:p>
        </p:txBody>
      </p:sp>
    </p:spTree>
    <p:extLst>
      <p:ext uri="{BB962C8B-B14F-4D97-AF65-F5344CB8AC3E}">
        <p14:creationId xmlns:p14="http://schemas.microsoft.com/office/powerpoint/2010/main" val="37465413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par>
                                <p:cTn id="9" presetID="2" presetClass="exit" presetSubtype="8" fill="hold" nodeType="withEffect">
                                  <p:stCondLst>
                                    <p:cond delay="0"/>
                                  </p:stCondLst>
                                  <p:childTnLst>
                                    <p:anim calcmode="lin" valueType="num">
                                      <p:cBhvr additive="base">
                                        <p:cTn id="10" dur="500"/>
                                        <p:tgtEl>
                                          <p:spTgt spid="6"/>
                                        </p:tgtEl>
                                        <p:attrNameLst>
                                          <p:attrName>ppt_x</p:attrName>
                                        </p:attrNameLst>
                                      </p:cBhvr>
                                      <p:tavLst>
                                        <p:tav tm="0">
                                          <p:val>
                                            <p:strVal val="ppt_x"/>
                                          </p:val>
                                        </p:tav>
                                        <p:tav tm="100000">
                                          <p:val>
                                            <p:strVal val="0-ppt_w/2"/>
                                          </p:val>
                                        </p:tav>
                                      </p:tavLst>
                                    </p:anim>
                                    <p:anim calcmode="lin" valueType="num">
                                      <p:cBhvr additive="base">
                                        <p:cTn id="11" dur="500"/>
                                        <p:tgtEl>
                                          <p:spTgt spid="6"/>
                                        </p:tgtEl>
                                        <p:attrNameLst>
                                          <p:attrName>ppt_y</p:attrName>
                                        </p:attrNameLst>
                                      </p:cBhvr>
                                      <p:tavLst>
                                        <p:tav tm="0">
                                          <p:val>
                                            <p:strVal val="ppt_y"/>
                                          </p:val>
                                        </p:tav>
                                        <p:tav tm="100000">
                                          <p:val>
                                            <p:strVal val="ppt_y"/>
                                          </p:val>
                                        </p:tav>
                                      </p:tavLst>
                                    </p:anim>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8"/>
                                        </p:tgtEl>
                                        <p:attrNameLst>
                                          <p:attrName>ppt_x</p:attrName>
                                        </p:attrNameLst>
                                      </p:cBhvr>
                                      <p:tavLst>
                                        <p:tav tm="0">
                                          <p:val>
                                            <p:strVal val="ppt_x"/>
                                          </p:val>
                                        </p:tav>
                                        <p:tav tm="100000">
                                          <p:val>
                                            <p:strVal val="0-ppt_w/2"/>
                                          </p:val>
                                        </p:tav>
                                      </p:tavLst>
                                    </p:anim>
                                    <p:anim calcmode="lin" valueType="num">
                                      <p:cBhvr additive="base">
                                        <p:cTn id="17" dur="500"/>
                                        <p:tgtEl>
                                          <p:spTgt spid="8"/>
                                        </p:tgtEl>
                                        <p:attrNameLst>
                                          <p:attrName>ppt_y</p:attrName>
                                        </p:attrNameLst>
                                      </p:cBhvr>
                                      <p:tavLst>
                                        <p:tav tm="0">
                                          <p:val>
                                            <p:strVal val="ppt_y"/>
                                          </p:val>
                                        </p:tav>
                                        <p:tav tm="100000">
                                          <p:val>
                                            <p:strVal val="ppt_y"/>
                                          </p:val>
                                        </p:tav>
                                      </p:tavLst>
                                    </p:anim>
                                    <p:set>
                                      <p:cBhvr>
                                        <p:cTn id="18" dur="1" fill="hold">
                                          <p:stCondLst>
                                            <p:cond delay="499"/>
                                          </p:stCondLst>
                                        </p:cTn>
                                        <p:tgtEl>
                                          <p:spTgt spid="8"/>
                                        </p:tgtEl>
                                        <p:attrNameLst>
                                          <p:attrName>style.visibility</p:attrName>
                                        </p:attrNameLst>
                                      </p:cBhvr>
                                      <p:to>
                                        <p:strVal val="hidden"/>
                                      </p:to>
                                    </p:set>
                                  </p:childTnLst>
                                </p:cTn>
                              </p:par>
                              <p:par>
                                <p:cTn id="19" presetID="2" presetClass="entr" presetSubtype="8"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0-#ppt_w/2"/>
                                          </p:val>
                                        </p:tav>
                                        <p:tav tm="100000">
                                          <p:val>
                                            <p:strVal val="#ppt_x"/>
                                          </p:val>
                                        </p:tav>
                                      </p:tavLst>
                                    </p:anim>
                                    <p:anim calcmode="lin" valueType="num">
                                      <p:cBhvr additive="base">
                                        <p:cTn id="2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nextCondLst>
                <p:cond evt="onClick" delay="0">
                  <p:tgtEl>
                    <p:spTgt spid="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607C8-D051-EA14-B19D-3E82B5B7FD79}"/>
              </a:ext>
            </a:extLst>
          </p:cNvPr>
          <p:cNvSpPr>
            <a:spLocks noGrp="1"/>
          </p:cNvSpPr>
          <p:nvPr>
            <p:ph type="title"/>
          </p:nvPr>
        </p:nvSpPr>
        <p:spPr/>
        <p:txBody>
          <a:bodyPr/>
          <a:lstStyle/>
          <a:p>
            <a:r>
              <a:rPr lang="en-US" dirty="0"/>
              <a:t>NTD Data Visualization</a:t>
            </a:r>
          </a:p>
        </p:txBody>
      </p:sp>
      <p:sp>
        <p:nvSpPr>
          <p:cNvPr id="3" name="Text Placeholder 2">
            <a:extLst>
              <a:ext uri="{FF2B5EF4-FFF2-40B4-BE49-F238E27FC236}">
                <a16:creationId xmlns:a16="http://schemas.microsoft.com/office/drawing/2014/main" id="{17C51B45-6619-2501-EBBA-22B25F116D57}"/>
              </a:ext>
            </a:extLst>
          </p:cNvPr>
          <p:cNvSpPr>
            <a:spLocks noGrp="1"/>
          </p:cNvSpPr>
          <p:nvPr>
            <p:ph type="body" idx="1"/>
          </p:nvPr>
        </p:nvSpPr>
        <p:spPr/>
        <p:txBody>
          <a:bodyPr>
            <a:normAutofit/>
          </a:bodyPr>
          <a:lstStyle/>
          <a:p>
            <a:r>
              <a:rPr lang="en-US" cap="none" dirty="0">
                <a:latin typeface="+mn-lt"/>
              </a:rPr>
              <a:t>The following section focuses on interpreting NTD (National Transit Database) data to identify potential pain points and areas for improvement in financial and service contexts</a:t>
            </a:r>
          </a:p>
        </p:txBody>
      </p:sp>
    </p:spTree>
    <p:extLst>
      <p:ext uri="{BB962C8B-B14F-4D97-AF65-F5344CB8AC3E}">
        <p14:creationId xmlns:p14="http://schemas.microsoft.com/office/powerpoint/2010/main" val="2033491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82D64-5FAD-5A1C-94F7-0856A50F6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94A03-2C13-5B27-D5EF-C2736D0EFB61}"/>
              </a:ext>
            </a:extLst>
          </p:cNvPr>
          <p:cNvSpPr>
            <a:spLocks noGrp="1"/>
          </p:cNvSpPr>
          <p:nvPr>
            <p:ph type="title" idx="4294967295"/>
          </p:nvPr>
        </p:nvSpPr>
        <p:spPr>
          <a:xfrm>
            <a:off x="1123361" y="222088"/>
            <a:ext cx="10058400" cy="674687"/>
          </a:xfrm>
        </p:spPr>
        <p:txBody>
          <a:bodyPr>
            <a:normAutofit fontScale="90000"/>
          </a:bodyPr>
          <a:lstStyle/>
          <a:p>
            <a:pPr algn="ctr"/>
            <a:r>
              <a:rPr lang="en-US" dirty="0"/>
              <a:t>Operating Expense and Usage Trends</a:t>
            </a:r>
          </a:p>
        </p:txBody>
      </p:sp>
      <p:pic>
        <p:nvPicPr>
          <p:cNvPr id="12" name="Content Placeholder 11">
            <a:extLst>
              <a:ext uri="{FF2B5EF4-FFF2-40B4-BE49-F238E27FC236}">
                <a16:creationId xmlns:a16="http://schemas.microsoft.com/office/drawing/2014/main" id="{DDF41B59-4496-7C40-9B5D-238746BCCCEE}"/>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6267291" y="896775"/>
            <a:ext cx="5723224" cy="2492538"/>
          </a:xfrm>
          <a:prstGeom prst="rect">
            <a:avLst/>
          </a:prstGeom>
        </p:spPr>
      </p:pic>
      <p:pic>
        <p:nvPicPr>
          <p:cNvPr id="16" name="Content Placeholder 15">
            <a:extLst>
              <a:ext uri="{FF2B5EF4-FFF2-40B4-BE49-F238E27FC236}">
                <a16:creationId xmlns:a16="http://schemas.microsoft.com/office/drawing/2014/main" id="{111905D3-5BD8-2C4D-9A66-797889F00551}"/>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201485" y="896775"/>
            <a:ext cx="5718075" cy="2492538"/>
          </a:xfrm>
          <a:prstGeom prst="rect">
            <a:avLst/>
          </a:prstGeom>
        </p:spPr>
      </p:pic>
      <p:sp>
        <p:nvSpPr>
          <p:cNvPr id="20" name="TextBox 19">
            <a:extLst>
              <a:ext uri="{FF2B5EF4-FFF2-40B4-BE49-F238E27FC236}">
                <a16:creationId xmlns:a16="http://schemas.microsoft.com/office/drawing/2014/main" id="{271B6C69-FD88-6B42-F44D-0D0C422D1014}"/>
              </a:ext>
            </a:extLst>
          </p:cNvPr>
          <p:cNvSpPr txBox="1"/>
          <p:nvPr/>
        </p:nvSpPr>
        <p:spPr>
          <a:xfrm>
            <a:off x="414780" y="3742441"/>
            <a:ext cx="11444140" cy="2308324"/>
          </a:xfrm>
          <a:prstGeom prst="rect">
            <a:avLst/>
          </a:prstGeom>
          <a:noFill/>
        </p:spPr>
        <p:txBody>
          <a:bodyPr wrap="square" rtlCol="0">
            <a:spAutoFit/>
          </a:bodyPr>
          <a:lstStyle/>
          <a:p>
            <a:r>
              <a:rPr lang="en-US" dirty="0"/>
              <a:t>The data shows an increase in Operating Expenses year-by-year with a major split between Fixed Route (FR) buses and Demand Response/Dial-a-Ride (DR) occurring in 2020 which persists through 2024 with a difference of nearly $600K in expenses going towards Fixed Route. </a:t>
            </a:r>
          </a:p>
          <a:p>
            <a:endParaRPr lang="en-US" dirty="0"/>
          </a:p>
          <a:p>
            <a:r>
              <a:rPr lang="en-US" dirty="0"/>
              <a:t>VRH or Vehicle Revenue Hours are the hours in which a vehicle travels while in service. The data shows that Fixed Route Buses began to  run for more hours in 2016 with an average of nearly 7,800 more hours per year since then. </a:t>
            </a:r>
            <a:endParaRPr lang="en-US" sz="1600" dirty="0"/>
          </a:p>
          <a:p>
            <a:endParaRPr lang="en-US" dirty="0"/>
          </a:p>
          <a:p>
            <a:endParaRPr lang="en-US" dirty="0"/>
          </a:p>
        </p:txBody>
      </p:sp>
    </p:spTree>
    <p:extLst>
      <p:ext uri="{BB962C8B-B14F-4D97-AF65-F5344CB8AC3E}">
        <p14:creationId xmlns:p14="http://schemas.microsoft.com/office/powerpoint/2010/main" val="407163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AB1C-4D70-9D72-07A2-A655BB24B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FFECE-7B3C-44F4-B90E-A840776D3BE5}"/>
              </a:ext>
            </a:extLst>
          </p:cNvPr>
          <p:cNvSpPr>
            <a:spLocks noGrp="1"/>
          </p:cNvSpPr>
          <p:nvPr>
            <p:ph type="title" idx="4294967295"/>
          </p:nvPr>
        </p:nvSpPr>
        <p:spPr>
          <a:xfrm>
            <a:off x="1123361" y="222088"/>
            <a:ext cx="10058400" cy="674687"/>
          </a:xfrm>
        </p:spPr>
        <p:txBody>
          <a:bodyPr>
            <a:normAutofit fontScale="90000"/>
          </a:bodyPr>
          <a:lstStyle/>
          <a:p>
            <a:pPr algn="ctr"/>
            <a:r>
              <a:rPr lang="en-US" dirty="0"/>
              <a:t>Increased Service</a:t>
            </a:r>
          </a:p>
        </p:txBody>
      </p:sp>
      <p:pic>
        <p:nvPicPr>
          <p:cNvPr id="12" name="Content Placeholder 11">
            <a:extLst>
              <a:ext uri="{FF2B5EF4-FFF2-40B4-BE49-F238E27FC236}">
                <a16:creationId xmlns:a16="http://schemas.microsoft.com/office/drawing/2014/main" id="{91DD0EBC-075F-C34D-24CB-AF959F618324}"/>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a:stretch/>
        </p:blipFill>
        <p:spPr>
          <a:xfrm>
            <a:off x="6267291" y="896775"/>
            <a:ext cx="5723224" cy="2492538"/>
          </a:xfrm>
          <a:prstGeom prst="rect">
            <a:avLst/>
          </a:prstGeom>
        </p:spPr>
      </p:pic>
      <p:pic>
        <p:nvPicPr>
          <p:cNvPr id="16" name="Content Placeholder 15">
            <a:extLst>
              <a:ext uri="{FF2B5EF4-FFF2-40B4-BE49-F238E27FC236}">
                <a16:creationId xmlns:a16="http://schemas.microsoft.com/office/drawing/2014/main" id="{84E3A145-55D8-FBAC-8EC4-804AE1307537}"/>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rcRect/>
          <a:stretch/>
        </p:blipFill>
        <p:spPr>
          <a:xfrm>
            <a:off x="201485" y="896775"/>
            <a:ext cx="5718075" cy="2492538"/>
          </a:xfrm>
          <a:prstGeom prst="rect">
            <a:avLst/>
          </a:prstGeom>
        </p:spPr>
      </p:pic>
      <p:sp>
        <p:nvSpPr>
          <p:cNvPr id="20" name="TextBox 19">
            <a:extLst>
              <a:ext uri="{FF2B5EF4-FFF2-40B4-BE49-F238E27FC236}">
                <a16:creationId xmlns:a16="http://schemas.microsoft.com/office/drawing/2014/main" id="{084F244A-D057-802F-D408-49E8FFB22EDE}"/>
              </a:ext>
            </a:extLst>
          </p:cNvPr>
          <p:cNvSpPr txBox="1"/>
          <p:nvPr/>
        </p:nvSpPr>
        <p:spPr>
          <a:xfrm>
            <a:off x="545221" y="3251552"/>
            <a:ext cx="11444140" cy="2277547"/>
          </a:xfrm>
          <a:prstGeom prst="rect">
            <a:avLst/>
          </a:prstGeom>
          <a:noFill/>
        </p:spPr>
        <p:txBody>
          <a:bodyPr wrap="square" rtlCol="0">
            <a:spAutoFit/>
          </a:bodyPr>
          <a:lstStyle/>
          <a:p>
            <a:endParaRPr lang="en-US" sz="1600" dirty="0"/>
          </a:p>
          <a:p>
            <a:r>
              <a:rPr lang="en-US" dirty="0"/>
              <a:t>VOMS or Vehicles Operated in Annual Maximum Service is a metric that describes the number of vehicles an agency needs to operate in its peak-season schedule. Here we can see a dramatic increase in the vehicles in use in 2020 from 2019. Doubling the number of FR vehicles in service.</a:t>
            </a:r>
          </a:p>
          <a:p>
            <a:endParaRPr lang="en-US" dirty="0"/>
          </a:p>
          <a:p>
            <a:r>
              <a:rPr lang="en-US" dirty="0"/>
              <a:t>The average fleet age also dropped dramatically, which aligns with vehicle acquisitions made in 2020.</a:t>
            </a:r>
          </a:p>
          <a:p>
            <a:r>
              <a:rPr lang="en-US" dirty="0"/>
              <a:t>Unfortunately, this expansion of service coincided with COVID-19 which dramatically impacted the ridership in Madera as shown by the next set of charts.</a:t>
            </a:r>
          </a:p>
        </p:txBody>
      </p:sp>
    </p:spTree>
    <p:extLst>
      <p:ext uri="{BB962C8B-B14F-4D97-AF65-F5344CB8AC3E}">
        <p14:creationId xmlns:p14="http://schemas.microsoft.com/office/powerpoint/2010/main" val="1762911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89AA-2812-0A52-0EA7-44F9050A1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A2B33-270E-636F-6EE1-203EB7C95FAC}"/>
              </a:ext>
            </a:extLst>
          </p:cNvPr>
          <p:cNvSpPr>
            <a:spLocks noGrp="1"/>
          </p:cNvSpPr>
          <p:nvPr>
            <p:ph type="title" idx="4294967295"/>
          </p:nvPr>
        </p:nvSpPr>
        <p:spPr>
          <a:xfrm>
            <a:off x="1123361" y="222088"/>
            <a:ext cx="10058400" cy="674687"/>
          </a:xfrm>
        </p:spPr>
        <p:txBody>
          <a:bodyPr>
            <a:normAutofit fontScale="90000"/>
          </a:bodyPr>
          <a:lstStyle/>
          <a:p>
            <a:pPr algn="ctr"/>
            <a:r>
              <a:rPr lang="en-US" dirty="0"/>
              <a:t>Ridership</a:t>
            </a:r>
          </a:p>
        </p:txBody>
      </p:sp>
      <p:sp>
        <p:nvSpPr>
          <p:cNvPr id="20" name="TextBox 19">
            <a:extLst>
              <a:ext uri="{FF2B5EF4-FFF2-40B4-BE49-F238E27FC236}">
                <a16:creationId xmlns:a16="http://schemas.microsoft.com/office/drawing/2014/main" id="{4D61ECCE-3744-F835-62C9-A00796437980}"/>
              </a:ext>
            </a:extLst>
          </p:cNvPr>
          <p:cNvSpPr txBox="1"/>
          <p:nvPr/>
        </p:nvSpPr>
        <p:spPr>
          <a:xfrm>
            <a:off x="430491" y="4256638"/>
            <a:ext cx="11444140" cy="3354765"/>
          </a:xfrm>
          <a:prstGeom prst="rect">
            <a:avLst/>
          </a:prstGeom>
          <a:noFill/>
        </p:spPr>
        <p:txBody>
          <a:bodyPr wrap="square" rtlCol="0">
            <a:spAutoFit/>
          </a:bodyPr>
          <a:lstStyle/>
          <a:p>
            <a:r>
              <a:rPr lang="en-US" sz="1600" dirty="0"/>
              <a:t>UPT or Unlinked Passenger Trips is a metric that counts how many passengers ride a vehicle regardless of any transfers. Here we can see the sheer difference in the number of passengers that FR moves compared to DR. We can also see that ridership was affected significantly by COVID with ridership still below pre-COVID numbers and about half what it was in 2014 but is recovering at a good rate. </a:t>
            </a:r>
          </a:p>
          <a:p>
            <a:endParaRPr lang="en-US" sz="1600" dirty="0"/>
          </a:p>
          <a:p>
            <a:r>
              <a:rPr lang="en-US" sz="1600" dirty="0"/>
              <a:t>While FR has the higher VRH, UPT, and VOMS which all drive up OE(Operating Expenses). The nature of DR causes it to have a staggering cost compared to FR, as we’ll see next.</a:t>
            </a:r>
          </a:p>
          <a:p>
            <a:endParaRPr lang="en-US" sz="1600" dirty="0"/>
          </a:p>
          <a:p>
            <a:endParaRPr lang="en-US" sz="1600" dirty="0"/>
          </a:p>
          <a:p>
            <a:endParaRPr lang="en-US" sz="1600" dirty="0"/>
          </a:p>
          <a:p>
            <a:endParaRPr lang="en-US" sz="1600" dirty="0"/>
          </a:p>
          <a:p>
            <a:endParaRPr lang="en-US" sz="1600" dirty="0"/>
          </a:p>
          <a:p>
            <a:endParaRPr lang="en-US" dirty="0"/>
          </a:p>
          <a:p>
            <a:endParaRPr lang="en-US" dirty="0"/>
          </a:p>
        </p:txBody>
      </p:sp>
      <p:pic>
        <p:nvPicPr>
          <p:cNvPr id="4" name="Picture 3">
            <a:extLst>
              <a:ext uri="{FF2B5EF4-FFF2-40B4-BE49-F238E27FC236}">
                <a16:creationId xmlns:a16="http://schemas.microsoft.com/office/drawing/2014/main" id="{D6B73786-218F-7BD9-3A4E-78F9D623CD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278" y="793080"/>
            <a:ext cx="7947443" cy="3463558"/>
          </a:xfrm>
          <a:prstGeom prst="rect">
            <a:avLst/>
          </a:prstGeom>
        </p:spPr>
      </p:pic>
    </p:spTree>
    <p:extLst>
      <p:ext uri="{BB962C8B-B14F-4D97-AF65-F5344CB8AC3E}">
        <p14:creationId xmlns:p14="http://schemas.microsoft.com/office/powerpoint/2010/main" val="389302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4F84-AC7C-F8D2-6661-033CEA53B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0D88F-84A8-BDFA-CBEE-FA08A1C91908}"/>
              </a:ext>
            </a:extLst>
          </p:cNvPr>
          <p:cNvSpPr>
            <a:spLocks noGrp="1"/>
          </p:cNvSpPr>
          <p:nvPr>
            <p:ph type="title" idx="4294967295"/>
          </p:nvPr>
        </p:nvSpPr>
        <p:spPr>
          <a:xfrm>
            <a:off x="1123361" y="222088"/>
            <a:ext cx="10058400" cy="674687"/>
          </a:xfrm>
        </p:spPr>
        <p:txBody>
          <a:bodyPr>
            <a:normAutofit fontScale="90000"/>
          </a:bodyPr>
          <a:lstStyle/>
          <a:p>
            <a:pPr algn="ctr"/>
            <a:r>
              <a:rPr lang="en-US" dirty="0"/>
              <a:t>Operating Expenses at a Reduced Scale</a:t>
            </a:r>
          </a:p>
        </p:txBody>
      </p:sp>
      <p:pic>
        <p:nvPicPr>
          <p:cNvPr id="12" name="Content Placeholder 11">
            <a:extLst>
              <a:ext uri="{FF2B5EF4-FFF2-40B4-BE49-F238E27FC236}">
                <a16:creationId xmlns:a16="http://schemas.microsoft.com/office/drawing/2014/main" id="{958456AD-14EC-93ED-9E88-99198C387116}"/>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a:stretch/>
        </p:blipFill>
        <p:spPr>
          <a:xfrm>
            <a:off x="6267291" y="896775"/>
            <a:ext cx="5723224" cy="2492538"/>
          </a:xfrm>
          <a:prstGeom prst="rect">
            <a:avLst/>
          </a:prstGeom>
        </p:spPr>
      </p:pic>
      <p:pic>
        <p:nvPicPr>
          <p:cNvPr id="16" name="Content Placeholder 15">
            <a:extLst>
              <a:ext uri="{FF2B5EF4-FFF2-40B4-BE49-F238E27FC236}">
                <a16:creationId xmlns:a16="http://schemas.microsoft.com/office/drawing/2014/main" id="{A46C870D-7591-0B4D-7D8F-4FB4DDBB2654}"/>
              </a:ext>
            </a:extLst>
          </p:cNvPr>
          <p:cNvPicPr>
            <a:picLocks noGrp="1" noChangeAspect="1"/>
          </p:cNvPicPr>
          <p:nvPr>
            <p:ph sz="half" idx="4294967295"/>
          </p:nvPr>
        </p:nvPicPr>
        <p:blipFill>
          <a:blip r:embed="rId3">
            <a:extLst>
              <a:ext uri="{28A0092B-C50C-407E-A947-70E740481C1C}">
                <a14:useLocalDpi xmlns:a14="http://schemas.microsoft.com/office/drawing/2010/main" val="0"/>
              </a:ext>
            </a:extLst>
          </a:blip>
          <a:srcRect/>
          <a:stretch/>
        </p:blipFill>
        <p:spPr>
          <a:xfrm>
            <a:off x="201485" y="896775"/>
            <a:ext cx="5718075" cy="2492538"/>
          </a:xfrm>
          <a:prstGeom prst="rect">
            <a:avLst/>
          </a:prstGeom>
        </p:spPr>
      </p:pic>
      <p:sp>
        <p:nvSpPr>
          <p:cNvPr id="20" name="TextBox 19">
            <a:extLst>
              <a:ext uri="{FF2B5EF4-FFF2-40B4-BE49-F238E27FC236}">
                <a16:creationId xmlns:a16="http://schemas.microsoft.com/office/drawing/2014/main" id="{42F40F9A-E689-6340-CCD5-871EB65DF86B}"/>
              </a:ext>
            </a:extLst>
          </p:cNvPr>
          <p:cNvSpPr txBox="1"/>
          <p:nvPr/>
        </p:nvSpPr>
        <p:spPr>
          <a:xfrm>
            <a:off x="414780" y="3742441"/>
            <a:ext cx="11444140" cy="3108543"/>
          </a:xfrm>
          <a:prstGeom prst="rect">
            <a:avLst/>
          </a:prstGeom>
          <a:noFill/>
        </p:spPr>
        <p:txBody>
          <a:bodyPr wrap="square" rtlCol="0">
            <a:spAutoFit/>
          </a:bodyPr>
          <a:lstStyle/>
          <a:p>
            <a:r>
              <a:rPr lang="en-US" sz="1600" dirty="0"/>
              <a:t>OE per UPT is essentially the cost to The City Of Madera’s transit agency to transport one person to their destination. While UPT per VRH is the amount of people transported per hour of service. Here we can see that there is a massive difference in cost per UPT in 2021 which carries through cost per VRH as well. </a:t>
            </a:r>
          </a:p>
          <a:p>
            <a:endParaRPr lang="en-US" sz="1600" dirty="0"/>
          </a:p>
          <a:p>
            <a:r>
              <a:rPr lang="en-US" sz="1600" dirty="0"/>
              <a:t>As of the most recent NTD report (2024) it costs $76.44 per trip via DR compared to $25.25 for FR. This is likely due to DR running on pre-planed or real-time passenger bookings which will lower ridership compared to a bus with a fixed schedule and higher capacity.</a:t>
            </a:r>
          </a:p>
          <a:p>
            <a:endParaRPr lang="en-US" sz="1600" dirty="0"/>
          </a:p>
          <a:p>
            <a:r>
              <a:rPr lang="en-US" sz="1600" dirty="0"/>
              <a:t>A recovering rider base for FR signals potential for improvements proving fruitful in further increasing ridership, more practicality can allow for greater economic stimulation which can indirectly offset the higher upfront cost, and bolster the negligible farebox recovery.</a:t>
            </a:r>
          </a:p>
          <a:p>
            <a:endParaRPr lang="en-US" sz="1600" dirty="0"/>
          </a:p>
          <a:p>
            <a:endParaRPr lang="en-US" dirty="0"/>
          </a:p>
          <a:p>
            <a:endParaRPr lang="en-US" dirty="0"/>
          </a:p>
        </p:txBody>
      </p:sp>
    </p:spTree>
    <p:extLst>
      <p:ext uri="{BB962C8B-B14F-4D97-AF65-F5344CB8AC3E}">
        <p14:creationId xmlns:p14="http://schemas.microsoft.com/office/powerpoint/2010/main" val="856733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09F41-A938-0176-154A-347E29092872}"/>
              </a:ext>
            </a:extLst>
          </p:cNvPr>
          <p:cNvSpPr>
            <a:spLocks noGrp="1"/>
          </p:cNvSpPr>
          <p:nvPr>
            <p:ph type="title"/>
          </p:nvPr>
        </p:nvSpPr>
        <p:spPr>
          <a:xfrm>
            <a:off x="1066800" y="98067"/>
            <a:ext cx="10058400" cy="1450757"/>
          </a:xfrm>
        </p:spPr>
        <p:txBody>
          <a:bodyPr/>
          <a:lstStyle/>
          <a:p>
            <a:pPr algn="ctr"/>
            <a:r>
              <a:rPr lang="en-US" dirty="0"/>
              <a:t>Conclusion</a:t>
            </a:r>
          </a:p>
        </p:txBody>
      </p:sp>
      <p:sp>
        <p:nvSpPr>
          <p:cNvPr id="3" name="Content Placeholder 2">
            <a:extLst>
              <a:ext uri="{FF2B5EF4-FFF2-40B4-BE49-F238E27FC236}">
                <a16:creationId xmlns:a16="http://schemas.microsoft.com/office/drawing/2014/main" id="{21B18261-C922-76A7-0FD3-731A440DCDCA}"/>
              </a:ext>
            </a:extLst>
          </p:cNvPr>
          <p:cNvSpPr>
            <a:spLocks noGrp="1"/>
          </p:cNvSpPr>
          <p:nvPr>
            <p:ph idx="1"/>
          </p:nvPr>
        </p:nvSpPr>
        <p:spPr/>
        <p:txBody>
          <a:bodyPr>
            <a:normAutofit fontScale="92500" lnSpcReduction="10000"/>
          </a:bodyPr>
          <a:lstStyle/>
          <a:p>
            <a:r>
              <a:rPr lang="en-US" dirty="0"/>
              <a:t>After analyzing the data, I feel the biggest concern with Madera’s transit system is its readiness as a High-Speed Rail feeder. Now is the time to address infrastructure issues and position Madera as a high-frequency transit ready city. However, with the hourly bus service and negligible farebox recovery there is real work to be done.</a:t>
            </a:r>
          </a:p>
          <a:p>
            <a:r>
              <a:rPr lang="en-US" dirty="0"/>
              <a:t>The city is currently exploring micro-transit as an alternative to DR and potentially FR, while it can work well for smaller communities, I worry that pursuing more low-density transit can hamstring the city. </a:t>
            </a:r>
          </a:p>
          <a:p>
            <a:r>
              <a:rPr lang="en-US" dirty="0"/>
              <a:t>With legislation </a:t>
            </a:r>
            <a:r>
              <a:rPr lang="en-US"/>
              <a:t>like AB-2011 </a:t>
            </a:r>
            <a:r>
              <a:rPr lang="en-US" dirty="0"/>
              <a:t>passing, Madera has a golden opportunity to prepare for HSR and the economic opportunities it will bring.</a:t>
            </a:r>
          </a:p>
          <a:p>
            <a:r>
              <a:rPr lang="en-US" dirty="0"/>
              <a:t>I’d recommend the city explore implementing pilot programs for higher frequency schedules in major corridors and gauging the viability of microtransit replacing the current DR Dial-A-Ride service.</a:t>
            </a:r>
          </a:p>
          <a:p>
            <a:r>
              <a:rPr lang="en-US" dirty="0"/>
              <a:t>In regards to improvements to this project, per-route data would have aided in analyzing which routes serve as major corridors or if any route revisions would need to be made. </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628863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44E3-D9A9-AC59-7738-547E2CDEB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AEE7A-6122-69EC-C963-AAEB66B976EC}"/>
              </a:ext>
            </a:extLst>
          </p:cNvPr>
          <p:cNvSpPr>
            <a:spLocks noGrp="1"/>
          </p:cNvSpPr>
          <p:nvPr>
            <p:ph type="title" idx="4294967295"/>
          </p:nvPr>
        </p:nvSpPr>
        <p:spPr>
          <a:xfrm>
            <a:off x="1327150" y="217488"/>
            <a:ext cx="10058400" cy="812800"/>
          </a:xfrm>
        </p:spPr>
        <p:txBody>
          <a:bodyPr>
            <a:normAutofit/>
          </a:bodyPr>
          <a:lstStyle/>
          <a:p>
            <a:pPr algn="ctr"/>
            <a:r>
              <a:rPr lang="en-US" dirty="0"/>
              <a:t>Glossary</a:t>
            </a:r>
          </a:p>
        </p:txBody>
      </p:sp>
      <p:sp>
        <p:nvSpPr>
          <p:cNvPr id="3" name="Content Placeholder 2">
            <a:extLst>
              <a:ext uri="{FF2B5EF4-FFF2-40B4-BE49-F238E27FC236}">
                <a16:creationId xmlns:a16="http://schemas.microsoft.com/office/drawing/2014/main" id="{498E302F-EEB2-1F77-91A0-36D29EB00CE3}"/>
              </a:ext>
            </a:extLst>
          </p:cNvPr>
          <p:cNvSpPr>
            <a:spLocks noGrp="1"/>
          </p:cNvSpPr>
          <p:nvPr>
            <p:ph idx="4294967295"/>
          </p:nvPr>
        </p:nvSpPr>
        <p:spPr>
          <a:xfrm>
            <a:off x="260350" y="1226156"/>
            <a:ext cx="11671300" cy="4081462"/>
          </a:xfrm>
        </p:spPr>
        <p:txBody>
          <a:bodyPr>
            <a:normAutofit fontScale="70000" lnSpcReduction="20000"/>
          </a:bodyPr>
          <a:lstStyle/>
          <a:p>
            <a:r>
              <a:rPr lang="en-US" b="1" dirty="0"/>
              <a:t>(</a:t>
            </a:r>
            <a:r>
              <a:rPr lang="en-US" b="1" u="sng" dirty="0"/>
              <a:t>Underlined</a:t>
            </a:r>
            <a:r>
              <a:rPr lang="en-US" b="1" dirty="0"/>
              <a:t> </a:t>
            </a:r>
            <a:r>
              <a:rPr lang="en-US" dirty="0"/>
              <a:t>definitions are abridged from the NTD website)</a:t>
            </a:r>
          </a:p>
          <a:p>
            <a:r>
              <a:rPr lang="en-US" b="1" dirty="0"/>
              <a:t>QGIS</a:t>
            </a:r>
            <a:r>
              <a:rPr lang="en-US" dirty="0"/>
              <a:t>: a free, open-source Geographic Information System (GIS) software. It allows users to create, edit, visualize, analyze, and publish geospatial information on Windows, macOS, and Linux.</a:t>
            </a:r>
          </a:p>
          <a:p>
            <a:r>
              <a:rPr lang="en-US" b="1" u="sng" dirty="0"/>
              <a:t>Fixed Route Services (FR)</a:t>
            </a:r>
            <a:r>
              <a:rPr lang="en-US" b="1" dirty="0"/>
              <a:t>: </a:t>
            </a:r>
            <a:r>
              <a:rPr lang="en-US" dirty="0"/>
              <a:t>Services provided on a repetitive, fixed schedule basis along a specific route with vehicles stopping to pick up and deliver passengers to specific locations; each fixed route trip serves the same origins and destinations, such as rail and bus (MB); unlike demand responsive (DR) and vanpool (VP) services.</a:t>
            </a:r>
          </a:p>
          <a:p>
            <a:r>
              <a:rPr lang="en-US" b="1" u="sng" dirty="0"/>
              <a:t>Demand Response (DR):</a:t>
            </a:r>
            <a:r>
              <a:rPr lang="en-US" dirty="0"/>
              <a:t>A transit mode comprised of passenger cars, vans or small buses operating in response to calls from passengers or their agents to the transit operator, who then dispatches a vehicle to pick up the passengers and transport them to their destinations. A demand response (DR) operation is characterized by the following: a)   The vehicles do not operate over a fixed route or on a fixed schedule except, perhaps, on a temporary basis to satisfy a special need, and b)   Typically, the vehicle may be dispatched to pick up several passengers at different pick-up points before taking them to their respective destinations and may even be interrupted </a:t>
            </a:r>
            <a:r>
              <a:rPr lang="en-US" dirty="0" err="1"/>
              <a:t>en</a:t>
            </a:r>
            <a:r>
              <a:rPr lang="en-US" dirty="0"/>
              <a:t> route to these destinations to pick up other passengers.</a:t>
            </a:r>
          </a:p>
          <a:p>
            <a:r>
              <a:rPr lang="en-US" b="1" u="sng" dirty="0"/>
              <a:t>Vehicle Revenue Hours (VRH): </a:t>
            </a:r>
            <a:r>
              <a:rPr lang="en-US" dirty="0"/>
              <a:t>The hours that vehicles are scheduled to or actually travel while in revenue service. Vehicle revenue hours include: layover / recovery time. Vehicle revenue hours exclude: deadhead, operator training, Vehicle maintenance testing, and other non-revenue uses of vehicles.</a:t>
            </a:r>
          </a:p>
          <a:p>
            <a:r>
              <a:rPr lang="en-US" b="1" u="sng" dirty="0"/>
              <a:t>Vehicles Operated in Annual Maximum Service (VOMS): </a:t>
            </a:r>
            <a:r>
              <a:rPr lang="en-US" dirty="0"/>
              <a:t>The number of revenue vehicles operated to meet the annual maximum service requirement. This is the revenue vehicle count during the peak season of the year; on the week and day that maximum service is provided. VOMS exclude: atypical days; or one-time special events.</a:t>
            </a:r>
          </a:p>
          <a:p>
            <a:r>
              <a:rPr lang="en-US" b="1" u="sng" dirty="0"/>
              <a:t>Unlinked Passenger Trips (UPT): </a:t>
            </a:r>
            <a:r>
              <a:rPr lang="en-US" dirty="0"/>
              <a:t>The number of passengers who board public transportation vehicles. Passengers are counted each time they board vehicles no matter how many vehicles they use to travel from their origin to their destination.</a:t>
            </a:r>
          </a:p>
          <a:p>
            <a:endParaRPr lang="en-US" dirty="0"/>
          </a:p>
          <a:p>
            <a:endParaRPr lang="en-US" dirty="0"/>
          </a:p>
          <a:p>
            <a:endParaRPr lang="en-US" dirty="0"/>
          </a:p>
        </p:txBody>
      </p:sp>
    </p:spTree>
    <p:extLst>
      <p:ext uri="{BB962C8B-B14F-4D97-AF65-F5344CB8AC3E}">
        <p14:creationId xmlns:p14="http://schemas.microsoft.com/office/powerpoint/2010/main" val="963755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2138-78FF-CACE-E04A-20160FB8494F}"/>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CD0C433C-73F6-65CB-37E5-C2126D4B24E7}"/>
              </a:ext>
            </a:extLst>
          </p:cNvPr>
          <p:cNvSpPr>
            <a:spLocks noGrp="1"/>
          </p:cNvSpPr>
          <p:nvPr>
            <p:ph idx="1"/>
          </p:nvPr>
        </p:nvSpPr>
        <p:spPr/>
        <p:txBody>
          <a:bodyPr/>
          <a:lstStyle/>
          <a:p>
            <a:r>
              <a:rPr lang="en-US" dirty="0"/>
              <a:t>Mobility Database — Madera GTFS Feed: </a:t>
            </a:r>
            <a:r>
              <a:rPr lang="en-US" dirty="0">
                <a:hlinkClick r:id="rId2"/>
              </a:rPr>
              <a:t>https://mobilitydatabase.org/feeds/gtfs/mdb-91</a:t>
            </a:r>
            <a:endParaRPr lang="en-US" dirty="0"/>
          </a:p>
          <a:p>
            <a:r>
              <a:rPr lang="en-US" dirty="0"/>
              <a:t>Madera County GIS: </a:t>
            </a:r>
            <a:r>
              <a:rPr lang="en-US" dirty="0">
                <a:hlinkClick r:id="rId3"/>
              </a:rPr>
              <a:t>https://www.maderacounty.com/government/geographic-information-system-gis</a:t>
            </a:r>
            <a:endParaRPr lang="en-US" dirty="0"/>
          </a:p>
          <a:p>
            <a:r>
              <a:rPr lang="en-US" dirty="0"/>
              <a:t>Madera Metro System Map and Schedule: </a:t>
            </a:r>
            <a:r>
              <a:rPr lang="en-US" dirty="0">
                <a:hlinkClick r:id="rId4"/>
              </a:rPr>
              <a:t>https://www.madera.gov/media/4oml3tfu/01-madera-metro-system-map-and-schedule-rev-240220-1.pdf</a:t>
            </a:r>
            <a:endParaRPr lang="en-US" dirty="0"/>
          </a:p>
          <a:p>
            <a:r>
              <a:rPr lang="en-US" dirty="0"/>
              <a:t>NTD Glossary: </a:t>
            </a:r>
            <a:r>
              <a:rPr lang="en-US" dirty="0">
                <a:hlinkClick r:id="rId5"/>
              </a:rPr>
              <a:t>https://www.transit.dot.gov/ntd/national-transit-database-ntd-glossary#V</a:t>
            </a:r>
            <a:endParaRPr lang="en-US" dirty="0"/>
          </a:p>
          <a:p>
            <a:r>
              <a:rPr lang="en-US" dirty="0"/>
              <a:t>NTD Data — Annual Data: </a:t>
            </a:r>
            <a:r>
              <a:rPr lang="en-US" dirty="0">
                <a:hlinkClick r:id="rId6"/>
              </a:rPr>
              <a:t>https://www.transit.dot.gov/ntd/ntd-data?field_product_type_target_id=1026&amp;year=all&amp;combine=</a:t>
            </a:r>
            <a:endParaRPr lang="en-US" dirty="0"/>
          </a:p>
          <a:p>
            <a:endParaRPr lang="en-US" dirty="0"/>
          </a:p>
        </p:txBody>
      </p:sp>
    </p:spTree>
    <p:extLst>
      <p:ext uri="{BB962C8B-B14F-4D97-AF65-F5344CB8AC3E}">
        <p14:creationId xmlns:p14="http://schemas.microsoft.com/office/powerpoint/2010/main" val="1686812462"/>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docProps/app.xml><?xml version="1.0" encoding="utf-8"?>
<Properties xmlns="http://schemas.openxmlformats.org/officeDocument/2006/extended-properties" xmlns:vt="http://schemas.openxmlformats.org/officeDocument/2006/docPropsVTypes">
  <Template>TM02900769[[fn=Retrospect]]</Template>
  <TotalTime>606</TotalTime>
  <Words>1679</Words>
  <Application>Microsoft Office PowerPoint</Application>
  <PresentationFormat>Widescreen</PresentationFormat>
  <Paragraphs>93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Calibri</vt:lpstr>
      <vt:lpstr>Calibri Light</vt:lpstr>
      <vt:lpstr>Retrospect</vt:lpstr>
      <vt:lpstr>Madera Transit Analysis</vt:lpstr>
      <vt:lpstr>Introduction</vt:lpstr>
      <vt:lpstr>QGIS Route Overview</vt:lpstr>
      <vt:lpstr>Fixed Route Overview</vt:lpstr>
      <vt:lpstr>Population Overlay</vt:lpstr>
      <vt:lpstr>Population Density Overlay</vt:lpstr>
      <vt:lpstr>NTD Data Visualization</vt:lpstr>
      <vt:lpstr>Operating Expense and Usage Trends</vt:lpstr>
      <vt:lpstr>Increased Service</vt:lpstr>
      <vt:lpstr>Ridership</vt:lpstr>
      <vt:lpstr>Operating Expenses at a Reduced Scale</vt:lpstr>
      <vt:lpstr>Conclusion</vt:lpstr>
      <vt:lpstr>Glossary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Ralph Cuevas</dc:creator>
  <cp:lastModifiedBy>Ralph Cuevas</cp:lastModifiedBy>
  <cp:revision>7</cp:revision>
  <cp:lastPrinted>2026-06-07T07:43:28Z</cp:lastPrinted>
  <dcterms:created xsi:type="dcterms:W3CDTF">2026-06-06T22:01:17Z</dcterms:created>
  <dcterms:modified xsi:type="dcterms:W3CDTF">2026-06-21T23:06:41Z</dcterms:modified>
</cp:coreProperties>
</file>